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2E"/>
          </a:solidFill>
          <a:ln>
            <a:solidFill>
              <a:srgbClr val="1E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8D6"/>
                </a:solidFill>
                <a:latin typeface="Segoe UI"/>
              </a:defRPr>
            </a:pPr>
            <a:r>
              <a:t>SIEMENS HACKATHON 2026  |  ECHIPA VIRTUALBB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F6FA"/>
                </a:solidFill>
                <a:latin typeface="Segoe UI"/>
              </a:defRPr>
            </a:pPr>
            <a:r>
              <a:t>Sistem de Comunicație Dronă – Turn de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2DAE2"/>
                </a:solidFill>
                <a:latin typeface="Segoe UI"/>
              </a:defRPr>
            </a:pPr>
            <a:r>
              <a:t>Telemetrie la 10 Hz prin MQTT, cockpit Tkinter cu orizont artificial și monitorizare predictivă a integrității hardware.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017520"/>
            <a:ext cx="2926080" cy="2926080"/>
          </a:xfrm>
          <a:prstGeom prst="rect">
            <a:avLst/>
          </a:prstGeom>
        </p:spPr>
      </p:pic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3474720"/>
            <a:ext cx="3291840" cy="11503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4297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8D6"/>
                </a:solidFill>
                <a:latin typeface="Segoe UI"/>
              </a:defRPr>
            </a:pPr>
            <a:r>
              <a:t>Canal MQTT Wi-Fi (100 ms)</a:t>
            </a:r>
          </a:p>
          <a:p>
            <a:pPr algn="ctr">
              <a:defRPr sz="1100">
                <a:solidFill>
                  <a:srgbClr val="D2DAE2"/>
                </a:solidFill>
                <a:latin typeface="Segoe UI"/>
              </a:defRPr>
            </a:pPr>
            <a:r>
              <a:t>14 parametri de telemetrie &amp; alerte</a:t>
            </a:r>
          </a:p>
        </p:txBody>
      </p:sp>
      <p:pic>
        <p:nvPicPr>
          <p:cNvPr id="9" name="Picture 8" descr="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834640"/>
            <a:ext cx="2121704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58521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5F6FA"/>
                </a:solidFill>
                <a:latin typeface="Segoe UI"/>
              </a:defRPr>
            </a:pPr>
            <a:r>
              <a:t>ESP32-C6 (Computer de bord)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8521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5F6FA"/>
                </a:solidFill>
                <a:latin typeface="Segoe UI"/>
              </a:defRPr>
            </a:pPr>
            <a:r>
              <a:t>Turn de Control (Raspberry Pi/PC)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2E"/>
          </a:solidFill>
          <a:ln>
            <a:solidFill>
              <a:srgbClr val="1E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8D6"/>
                </a:solidFill>
                <a:latin typeface="Segoe UI"/>
              </a:defRPr>
            </a:pPr>
            <a:r>
              <a:t>01. CONTEXT ȘI OBIECTIVE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5F6FA"/>
                </a:solidFill>
                <a:latin typeface="Segoe UI"/>
              </a:defRPr>
            </a:pPr>
            <a:r>
              <a:t>Provocări Operaționale &amp; Arhitectura Soluției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485460"/>
          </a:solidFill>
          <a:ln>
            <a:solidFill>
              <a:srgbClr val="485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2F3640"/>
          </a:solidFill>
          <a:ln w="15240">
            <a:solidFill>
              <a:srgbClr val="485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5E57"/>
                </a:solidFill>
                <a:latin typeface="Segoe UI"/>
              </a:defRPr>
            </a:pPr>
            <a:r>
              <a:t>Provocări în Operarea Dronelor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F5F6FA"/>
                </a:solidFill>
                <a:latin typeface="Segoe UI"/>
              </a:rPr>
              <a:t>• Pierderea vizuală a orientării:</a:t>
            </a:r>
            <a:r>
              <a:rPr sz="1100">
                <a:solidFill>
                  <a:srgbClr val="D2DAE2"/>
                </a:solidFill>
                <a:latin typeface="Segoe UI"/>
              </a:rPr>
              <a:t> Fără instrumentație de bord clară la sol, pilotul nu poate evalua înclinarea (roll/pitch) în condiții de vizibilitate scăzută.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F5F6FA"/>
                </a:solidFill>
                <a:latin typeface="Segoe UI"/>
              </a:rPr>
              <a:t>• Depășirea plafonului de zbor:</a:t>
            </a:r>
            <a:r>
              <a:rPr sz="1100">
                <a:solidFill>
                  <a:srgbClr val="D2DAE2"/>
                </a:solidFill>
                <a:latin typeface="Segoe UI"/>
              </a:rPr>
              <a:t> Risc de pierdere a controlului sau încălcare a reglementărilor fără monitorizare barometrică constantă.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F5F6FA"/>
                </a:solidFill>
                <a:latin typeface="Segoe UI"/>
              </a:rPr>
              <a:t>• Condiții meteo ostile:</a:t>
            </a:r>
            <a:r>
              <a:rPr sz="1100">
                <a:solidFill>
                  <a:srgbClr val="D2DAE2"/>
                </a:solidFill>
                <a:latin typeface="Segoe UI"/>
              </a:rPr>
              <a:t> Umiditatea ridicată și condensul pot provoca scurtcircuite înainte ca drona să decoleze.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F5F6FA"/>
                </a:solidFill>
                <a:latin typeface="Segoe UI"/>
              </a:rPr>
              <a:t>• Avarii electronice silențioase:</a:t>
            </a:r>
            <a:r>
              <a:rPr sz="1100">
                <a:solidFill>
                  <a:srgbClr val="D2DAE2"/>
                </a:solidFill>
                <a:latin typeface="Segoe UI"/>
              </a:rPr>
              <a:t> Supraîncălzirea cipurilor sau producerea unui arc electric/scurtcircuit pe placă trece neobservată până la prăbușire.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2F3640"/>
          </a:solidFill>
          <a:ln w="15240">
            <a:solidFill>
              <a:srgbClr val="485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E881"/>
                </a:solidFill>
                <a:latin typeface="Segoe UI"/>
              </a:defRPr>
            </a:pPr>
            <a:r>
              <a:t>Soluția Noastră: Digital Twin Integrat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F5F6FA"/>
                </a:solidFill>
                <a:latin typeface="Segoe UI"/>
              </a:rPr>
              <a:t>✔ Calcul distribuit la sursă:</a:t>
            </a:r>
            <a:r>
              <a:rPr sz="1100">
                <a:solidFill>
                  <a:srgbClr val="D2DAE2"/>
                </a:solidFill>
                <a:latin typeface="Segoe UI"/>
              </a:rPr>
              <a:t> ESP32-C6 procesează accelerometrul și calculează direct unghiurile Roll și Pitch prin atan2, degrevând stația de sol.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F5F6FA"/>
                </a:solidFill>
                <a:latin typeface="Segoe UI"/>
              </a:rPr>
              <a:t>✔ Rețea dedicată de senzori:</a:t>
            </a:r>
            <a:r>
              <a:rPr sz="1100">
                <a:solidFill>
                  <a:srgbClr val="D2DAE2"/>
                </a:solidFill>
                <a:latin typeface="Segoe UI"/>
              </a:rPr>
              <a:t> Separare clară între diagnoza internă a plăcii (BMP280, MQ3) și mediul exterior (DHT22 montat extern pe carcasă).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F5F6FA"/>
                </a:solidFill>
                <a:latin typeface="Segoe UI"/>
              </a:rPr>
              <a:t>✔ Detecție proactivă de scurtcircuit:</a:t>
            </a:r>
            <a:r>
              <a:rPr sz="1100">
                <a:solidFill>
                  <a:srgbClr val="D2DAE2"/>
                </a:solidFill>
                <a:latin typeface="Segoe UI"/>
              </a:rPr>
              <a:t> Algoritm cu dublu criteriu pe senzorul MQ3: spike detection (&gt;500 unități ADC) și prag critic (&gt;2000 unități).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F5F6FA"/>
                </a:solidFill>
                <a:latin typeface="Segoe UI"/>
              </a:rPr>
              <a:t>✔ Comunicație sigură &amp; decuplată:</a:t>
            </a:r>
            <a:r>
              <a:rPr sz="1100">
                <a:solidFill>
                  <a:srgbClr val="D2DAE2"/>
                </a:solidFill>
                <a:latin typeface="Segoe UI"/>
              </a:rPr>
              <a:t> Broker MQTT local pe portul standard 1883, decuplând emițătorul de receptor pentru reziliență la deconectări temporare.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2E"/>
          </a:solidFill>
          <a:ln>
            <a:solidFill>
              <a:srgbClr val="1E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8D6"/>
                </a:solidFill>
                <a:latin typeface="Segoe UI"/>
              </a:defRPr>
            </a:pPr>
            <a:r>
              <a:t>02. COMPONENTE ȘI SENZORI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5F6FA"/>
                </a:solidFill>
                <a:latin typeface="Segoe UI"/>
              </a:defRPr>
            </a:pPr>
            <a:r>
              <a:t>Arhitectura Hardware a Computerului Intern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485460"/>
          </a:solidFill>
          <a:ln>
            <a:solidFill>
              <a:srgbClr val="485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303520" cy="4846320"/>
          </a:xfrm>
          <a:prstGeom prst="roundRect">
            <a:avLst/>
          </a:prstGeom>
          <a:solidFill>
            <a:srgbClr val="2F3640"/>
          </a:solidFill>
          <a:ln w="15240">
            <a:solidFill>
              <a:srgbClr val="485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426637"/>
            <a:ext cx="5029200" cy="26189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760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00D8D6"/>
                </a:solidFill>
                <a:latin typeface="Segoe UI"/>
              </a:defRPr>
            </a:pPr>
            <a:r>
              <a:t>Prototip funcțional pe breadboard: ESP32-C6 + magistrală I2C comună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868680"/>
          </a:xfrm>
          <a:prstGeom prst="roundRect">
            <a:avLst/>
          </a:prstGeom>
          <a:solidFill>
            <a:srgbClr val="2F3640"/>
          </a:solidFill>
          <a:ln w="15240">
            <a:solidFill>
              <a:srgbClr val="00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8D6"/>
                </a:solidFill>
                <a:latin typeface="Segoe UI"/>
              </a:defRPr>
            </a:pPr>
            <a:r>
              <a:t>ESP32-C6 Microcontroller</a:t>
            </a:r>
          </a:p>
          <a:p>
            <a:pPr>
              <a:defRPr sz="1000">
                <a:solidFill>
                  <a:srgbClr val="F5F6FA"/>
                </a:solidFill>
                <a:latin typeface="Segoe UI"/>
              </a:defRPr>
            </a:pPr>
            <a:r>
              <a:t>RISC-V 32-bit, Wi-Fi 6 (802.11ax), BLE 5. Gestionează I2C (SDA: GPIO 6, SCL: GPIO 7), eșantionare la 100 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542032"/>
            <a:ext cx="5120640" cy="868680"/>
          </a:xfrm>
          <a:prstGeom prst="roundRect">
            <a:avLst/>
          </a:prstGeom>
          <a:solidFill>
            <a:srgbClr val="2F3640"/>
          </a:solidFill>
          <a:ln w="15240">
            <a:solidFill>
              <a:srgbClr val="0FB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58775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BCF9"/>
                </a:solidFill>
                <a:latin typeface="Segoe UI"/>
              </a:defRPr>
            </a:pPr>
            <a:r>
              <a:t>MPU-6050 (IMU 6 Axe)</a:t>
            </a:r>
          </a:p>
          <a:p>
            <a:pPr>
              <a:defRPr sz="1000">
                <a:solidFill>
                  <a:srgbClr val="F5F6FA"/>
                </a:solidFill>
                <a:latin typeface="Segoe UI"/>
              </a:defRPr>
            </a:pPr>
            <a:r>
              <a:t>Accel ±2g &amp; Giroscop ±250°/s. Calculează Roll și Pitch în timp real pentru orizontul artificial din cockpit.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529584"/>
            <a:ext cx="5120640" cy="868680"/>
          </a:xfrm>
          <a:prstGeom prst="roundRect">
            <a:avLst/>
          </a:prstGeom>
          <a:solidFill>
            <a:srgbClr val="2F3640"/>
          </a:solidFill>
          <a:ln w="15240">
            <a:solidFill>
              <a:srgbClr val="0BE8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3575304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E881"/>
                </a:solidFill>
                <a:latin typeface="Segoe UI"/>
              </a:defRPr>
            </a:pPr>
            <a:r>
              <a:t>BMP280 (Senzor Barometric)</a:t>
            </a:r>
          </a:p>
          <a:p>
            <a:pPr>
              <a:defRPr sz="1000">
                <a:solidFill>
                  <a:srgbClr val="F5F6FA"/>
                </a:solidFill>
                <a:latin typeface="Segoe UI"/>
              </a:defRPr>
            </a:pPr>
            <a:r>
              <a:t>Presiune (0.16 Pa rezoluție), altitudine barometrică raportată la 1013 hPa și temperatura cipului intern.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517136"/>
            <a:ext cx="5120640" cy="868680"/>
          </a:xfrm>
          <a:prstGeom prst="roundRect">
            <a:avLst/>
          </a:prstGeom>
          <a:solidFill>
            <a:srgbClr val="2F3640"/>
          </a:solidFill>
          <a:ln w="1524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4562856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A502"/>
                </a:solidFill>
                <a:latin typeface="Segoe UI"/>
              </a:defRPr>
            </a:pPr>
            <a:r>
              <a:t>DHT22 (Meteo Extern)</a:t>
            </a:r>
          </a:p>
          <a:p>
            <a:pPr>
              <a:defRPr sz="1000">
                <a:solidFill>
                  <a:srgbClr val="F5F6FA"/>
                </a:solidFill>
                <a:latin typeface="Segoe UI"/>
              </a:defRPr>
            </a:pPr>
            <a:r>
              <a:t>Temperatură și umiditate ambientală (GPIO 15), eșantionat la 2 secunde. Evaluează riscul de condens/ceață.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5504688"/>
            <a:ext cx="5120640" cy="868680"/>
          </a:xfrm>
          <a:prstGeom prst="roundRect">
            <a:avLst/>
          </a:prstGeom>
          <a:solidFill>
            <a:srgbClr val="2F3640"/>
          </a:solidFill>
          <a:ln w="15240">
            <a:solidFill>
              <a:srgbClr val="FF5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5550408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5E57"/>
                </a:solidFill>
                <a:latin typeface="Segoe UI"/>
              </a:defRPr>
            </a:pPr>
            <a:r>
              <a:t>MQ3 (Detecție Incendiu / Arc)</a:t>
            </a:r>
          </a:p>
          <a:p>
            <a:pPr>
              <a:defRPr sz="1000">
                <a:solidFill>
                  <a:srgbClr val="F5F6FA"/>
                </a:solidFill>
                <a:latin typeface="Segoe UI"/>
              </a:defRPr>
            </a:pPr>
            <a:r>
              <a:t>Canal ADC (Pin A0). Calibrat pe spike-uri pentru semnalarea fumului și a scurtcircuitelor pe placă.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2E"/>
          </a:solidFill>
          <a:ln>
            <a:solidFill>
              <a:srgbClr val="1E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8D6"/>
                </a:solidFill>
                <a:latin typeface="Segoe UI"/>
              </a:defRPr>
            </a:pPr>
            <a:r>
              <a:t>03. HARDWARE INDUSTRIAL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5F6FA"/>
                </a:solidFill>
                <a:latin typeface="Segoe UI"/>
              </a:defRPr>
            </a:pPr>
            <a:r>
              <a:t>Trecerea de la Prototip la PCB Proiectat în KiCad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485460"/>
          </a:solidFill>
          <a:ln>
            <a:solidFill>
              <a:srgbClr val="485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937760" cy="4846320"/>
          </a:xfrm>
          <a:prstGeom prst="roundRect">
            <a:avLst/>
          </a:prstGeom>
          <a:solidFill>
            <a:srgbClr val="2F3640"/>
          </a:solidFill>
          <a:ln w="15240">
            <a:solidFill>
              <a:srgbClr val="485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00" y="2514600"/>
            <a:ext cx="4724318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80644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D8D6"/>
                </a:solidFill>
                <a:latin typeface="Segoe UI"/>
              </a:defRPr>
            </a:pPr>
            <a:r>
              <a:t>PCB VirtualBB – Hackathon Siemens 2026 (Modelare 3D KiCad)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554480"/>
            <a:ext cx="5486400" cy="4846320"/>
          </a:xfrm>
          <a:prstGeom prst="roundRect">
            <a:avLst/>
          </a:prstGeom>
          <a:solidFill>
            <a:srgbClr val="2F3640"/>
          </a:solidFill>
          <a:ln w="15240">
            <a:solidFill>
              <a:srgbClr val="485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BCF9"/>
                </a:solidFill>
                <a:latin typeface="Segoe UI"/>
              </a:defRPr>
            </a:pPr>
            <a:r>
              <a:t>De ce este esențial PCB-ul dedicat pe o dronă?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F5F6FA"/>
                </a:solidFill>
                <a:latin typeface="Segoe UI"/>
              </a:rPr>
              <a:t>• Rezistență la vibrații mecanice severe:</a:t>
            </a:r>
            <a:r>
              <a:rPr sz="1050">
                <a:solidFill>
                  <a:srgbClr val="D2DAE2"/>
                </a:solidFill>
                <a:latin typeface="Segoe UI"/>
              </a:rPr>
              <a:t> Motoarele brushless induc vibrații de frecvență înaltă care deconectează jumperii uzuali de breadboard.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F5F6FA"/>
                </a:solidFill>
                <a:latin typeface="Segoe UI"/>
              </a:rPr>
              <a:t>• Integritatea semnalului I2C:</a:t>
            </a:r>
            <a:r>
              <a:rPr sz="1050">
                <a:solidFill>
                  <a:srgbClr val="D2DAE2"/>
                </a:solidFill>
                <a:latin typeface="Segoe UI"/>
              </a:rPr>
              <a:t> Trasee ecranate de cupru de lungime minimă între ESP32 și BMP280/MPU-6050, prevenind pierderea pachetelor de date.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F5F6FA"/>
                </a:solidFill>
                <a:latin typeface="Segoe UI"/>
              </a:rPr>
              <a:t>• Condensatoare de decuplare dedicate:</a:t>
            </a:r>
            <a:r>
              <a:rPr sz="1050">
                <a:solidFill>
                  <a:srgbClr val="D2DAE2"/>
                </a:solidFill>
                <a:latin typeface="Segoe UI"/>
              </a:rPr>
              <a:t> Filtrare eficientă a zgomotului indus de alimentarea în comutație pe liniile de 3.3V ale senzorilor.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F5F6FA"/>
                </a:solidFill>
                <a:latin typeface="Segoe UI"/>
              </a:rPr>
              <a:t>• Optimizare masă și factor de formă:</a:t>
            </a:r>
            <a:r>
              <a:rPr sz="1050">
                <a:solidFill>
                  <a:srgbClr val="D2DAE2"/>
                </a:solidFill>
                <a:latin typeface="Segoe UI"/>
              </a:rPr>
              <a:t> Reducere cu 60% a volumului față de prototipul breadboard, permițând montajul compact în fuselajul dronei.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F5F6FA"/>
                </a:solidFill>
                <a:latin typeface="Segoe UI"/>
              </a:rPr>
              <a:t>• Serigrafie și identificare rapidă:</a:t>
            </a:r>
            <a:r>
              <a:rPr sz="1050">
                <a:solidFill>
                  <a:srgbClr val="D2DAE2"/>
                </a:solidFill>
                <a:latin typeface="Segoe UI"/>
              </a:rPr>
              <a:t> Conectori polarizați pentru prevenirea alimentării inverse a senzorului exterior DHT22.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2E"/>
          </a:solidFill>
          <a:ln>
            <a:solidFill>
              <a:srgbClr val="1E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8D6"/>
                </a:solidFill>
                <a:latin typeface="Segoe UI"/>
              </a:defRPr>
            </a:pPr>
            <a:r>
              <a:t>04. PROTOCOL ȘI TELEMETRIE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5F6FA"/>
                </a:solidFill>
                <a:latin typeface="Segoe UI"/>
              </a:defRPr>
            </a:pPr>
            <a:r>
              <a:t>Fluxul de Date &amp; Comunicația MQTT (10 Hz)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485460"/>
          </a:solidFill>
          <a:ln>
            <a:solidFill>
              <a:srgbClr val="485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1554480"/>
          </a:xfrm>
          <a:prstGeom prst="roundRect">
            <a:avLst/>
          </a:prstGeom>
          <a:solidFill>
            <a:srgbClr val="2F3640"/>
          </a:solidFill>
          <a:ln w="15240">
            <a:solidFill>
              <a:srgbClr val="00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8D6"/>
                </a:solidFill>
                <a:latin typeface="Segoe UI"/>
              </a:defRPr>
            </a:pPr>
            <a:r>
              <a:t>1. Achiziție Senzori</a:t>
            </a:r>
          </a:p>
          <a:p>
            <a:pPr>
              <a:spcBef>
                <a:spcPts val="600"/>
              </a:spcBef>
              <a:defRPr sz="1050">
                <a:solidFill>
                  <a:srgbClr val="F5F6FA"/>
                </a:solidFill>
                <a:latin typeface="Segoe UI"/>
              </a:defRPr>
            </a:pPr>
            <a:r>
              <a:t>ESP32-C6 citește I2C (MPU6050, BMP280), ADC (MQ3) și GPIO (DHT22).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1554480"/>
          </a:xfrm>
          <a:prstGeom prst="roundRect">
            <a:avLst/>
          </a:prstGeom>
          <a:solidFill>
            <a:srgbClr val="2F3640"/>
          </a:solidFill>
          <a:ln w="15240">
            <a:solidFill>
              <a:srgbClr val="0FB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17373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BCF9"/>
                </a:solidFill>
                <a:latin typeface="Segoe UI"/>
              </a:defRPr>
            </a:pPr>
            <a:r>
              <a:t>2. Prelucrare la Bord</a:t>
            </a:r>
          </a:p>
          <a:p>
            <a:pPr>
              <a:spcBef>
                <a:spcPts val="600"/>
              </a:spcBef>
              <a:defRPr sz="1050">
                <a:solidFill>
                  <a:srgbClr val="F5F6FA"/>
                </a:solidFill>
                <a:latin typeface="Segoe UI"/>
              </a:defRPr>
            </a:pPr>
            <a:r>
              <a:t>Calcul trigonometrie Roll/Pitch via atan2. Formatare șir text compact.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1554480"/>
          </a:xfrm>
          <a:prstGeom prst="roundRect">
            <a:avLst/>
          </a:prstGeom>
          <a:solidFill>
            <a:srgbClr val="2F3640"/>
          </a:solidFill>
          <a:ln w="1524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A502"/>
                </a:solidFill>
                <a:latin typeface="Segoe UI"/>
              </a:defRPr>
            </a:pPr>
            <a:r>
              <a:t>3. Publicare MQTT</a:t>
            </a:r>
          </a:p>
          <a:p>
            <a:pPr>
              <a:spcBef>
                <a:spcPts val="600"/>
              </a:spcBef>
              <a:defRPr sz="1050">
                <a:solidFill>
                  <a:srgbClr val="F5F6FA"/>
                </a:solidFill>
                <a:latin typeface="Segoe UI"/>
              </a:defRPr>
            </a:pPr>
            <a:r>
              <a:t>Broker local pe port 1883, topic 'esp32'. Frecvență stabilă: 100 ms (10 Hz).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68880" cy="1554480"/>
          </a:xfrm>
          <a:prstGeom prst="roundRect">
            <a:avLst/>
          </a:prstGeom>
          <a:solidFill>
            <a:srgbClr val="2F3640"/>
          </a:solidFill>
          <a:ln w="15240">
            <a:solidFill>
              <a:srgbClr val="0BE8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98280" y="17373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E881"/>
                </a:solidFill>
                <a:latin typeface="Segoe UI"/>
              </a:defRPr>
            </a:pPr>
            <a:r>
              <a:t>4. Cockpit Turn</a:t>
            </a:r>
          </a:p>
          <a:p>
            <a:pPr>
              <a:spcBef>
                <a:spcPts val="600"/>
              </a:spcBef>
              <a:defRPr sz="1050">
                <a:solidFill>
                  <a:srgbClr val="F5F6FA"/>
                </a:solidFill>
                <a:latin typeface="Segoe UI"/>
              </a:defRPr>
            </a:pPr>
            <a:r>
              <a:t>Client Python (paho-mqtt) pe Raspberry Pi parsează telemetria la 30 FPS.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10698480" cy="2926080"/>
          </a:xfrm>
          <a:prstGeom prst="roundRect">
            <a:avLst/>
          </a:prstGeom>
          <a:solidFill>
            <a:srgbClr val="2F3640"/>
          </a:solidFill>
          <a:ln w="15240">
            <a:solidFill>
              <a:srgbClr val="485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611880"/>
            <a:ext cx="10149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8D6"/>
                </a:solidFill>
                <a:latin typeface="Segoe UI"/>
              </a:defRPr>
            </a:pPr>
            <a:r>
              <a:t>Formatul Pachetului de Telemetrie Transmis pe Topic-ul 'esp32':</a:t>
            </a:r>
          </a:p>
          <a:p>
            <a:pPr>
              <a:spcBef>
                <a:spcPts val="800"/>
              </a:spcBef>
              <a:defRPr sz="1050">
                <a:solidFill>
                  <a:srgbClr val="0BE881"/>
                </a:solidFill>
                <a:latin typeface="Consolas"/>
              </a:defRPr>
            </a:pPr>
            <a:r>
              <a:t>Xaccel: 0.01 Yaccel: -0.02 Zaccel: 1.02 Xgyro: 0.12 Ygyro: -0.05 Zgyro: 0.01 Roll: -1.12 Pitch: 0.56 Presiune: 1012.30 TemperChip: 28.40 Altitudine: 8.50 TempOut: 24.10 Umid: 52.00 Gaz: 210.00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5F6FA"/>
                </a:solidFill>
                <a:latin typeface="Segoe UI"/>
              </a:rPr>
              <a:t>• Overhead minim:</a:t>
            </a:r>
            <a:r>
              <a:rPr sz="1050">
                <a:solidFill>
                  <a:srgbClr val="D2DAE2"/>
                </a:solidFill>
                <a:latin typeface="Segoe UI"/>
              </a:rPr>
              <a:t> Transmisie rapidă de șir delimitat, eliminând parsarea redundantă de JSON sau pachete complexe pe un microcontroler cu resurse optimizate.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5F6FA"/>
                </a:solidFill>
                <a:latin typeface="Segoe UI"/>
              </a:rPr>
              <a:t>• Reziliență asincronă:</a:t>
            </a:r>
            <a:r>
              <a:rPr sz="1050">
                <a:solidFill>
                  <a:srgbClr val="D2DAE2"/>
                </a:solidFill>
                <a:latin typeface="Segoe UI"/>
              </a:rPr>
              <a:t> Conexiunea MQTT include rutină automată de reconectare (reconnect() la fiecare 5s) în caz de scădere a semnalului Wi-Fi.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5F6FA"/>
                </a:solidFill>
                <a:latin typeface="Segoe UI"/>
              </a:rPr>
              <a:t>• Consum redus de bandă:</a:t>
            </a:r>
            <a:r>
              <a:rPr sz="1050">
                <a:solidFill>
                  <a:srgbClr val="D2DAE2"/>
                </a:solidFill>
                <a:latin typeface="Segoe UI"/>
              </a:rPr>
              <a:t> La un transfer de ~180 octeți la fiecare 100 ms, lățimea de bandă necesară este sub 2 KB/s, ideală pentru zbor.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2E"/>
          </a:solidFill>
          <a:ln>
            <a:solidFill>
              <a:srgbClr val="1E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8D6"/>
                </a:solidFill>
                <a:latin typeface="Segoe UI"/>
              </a:defRPr>
            </a:pPr>
            <a:r>
              <a:t>05. INTERFAȚA GRAFICĂ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5F6FA"/>
                </a:solidFill>
                <a:latin typeface="Segoe UI"/>
              </a:defRPr>
            </a:pPr>
            <a:r>
              <a:t>Digital Twin-ul Stației la Sol: Cockpit Tkinter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485460"/>
          </a:solidFill>
          <a:ln>
            <a:solidFill>
              <a:srgbClr val="485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6217920" cy="4846320"/>
          </a:xfrm>
          <a:prstGeom prst="roundRect">
            <a:avLst/>
          </a:prstGeom>
          <a:solidFill>
            <a:srgbClr val="2F3640"/>
          </a:solidFill>
          <a:ln w="15240">
            <a:solidFill>
              <a:srgbClr val="485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1965960"/>
            <a:ext cx="5485274" cy="404912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23760" y="1554480"/>
            <a:ext cx="4206240" cy="4846320"/>
          </a:xfrm>
          <a:prstGeom prst="roundRect">
            <a:avLst/>
          </a:prstGeom>
          <a:solidFill>
            <a:srgbClr val="2F3640"/>
          </a:solidFill>
          <a:ln w="15240">
            <a:solidFill>
              <a:srgbClr val="485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7373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8D6"/>
                </a:solidFill>
                <a:latin typeface="Segoe UI"/>
              </a:defRPr>
            </a:pPr>
            <a:r>
              <a:t>Caracteristicile Cockpit-ului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F5F6FA"/>
                </a:solidFill>
                <a:latin typeface="Segoe UI"/>
              </a:rPr>
              <a:t>• Orizont Artificial Central:</a:t>
            </a:r>
            <a:r>
              <a:rPr sz="1000">
                <a:solidFill>
                  <a:srgbClr val="D2DAE2"/>
                </a:solidFill>
                <a:latin typeface="Segoe UI"/>
              </a:rPr>
              <a:t> Punct verde dinamic centrat pe coordonate radar, calculat dinamic din componentele accelerației (ax, ay) cu mapare proporțională.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F5F6FA"/>
                </a:solidFill>
                <a:latin typeface="Segoe UI"/>
              </a:rPr>
              <a:t>• Indicator Vertical de Altitudine:</a:t>
            </a:r>
            <a:r>
              <a:rPr sz="1000">
                <a:solidFill>
                  <a:srgbClr val="D2DAE2"/>
                </a:solidFill>
                <a:latin typeface="Segoe UI"/>
              </a:rPr>
              <a:t> Bară grafică de nivel cu filtrare numerică exponențială (alpha = 0.15) pentru a amortiza fluctuațiile zgomotului barometric.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F5F6FA"/>
                </a:solidFill>
                <a:latin typeface="Segoe UI"/>
              </a:rPr>
              <a:t>• Auto-Calibrare la Sol (Zeroing):</a:t>
            </a:r>
            <a:r>
              <a:rPr sz="1000">
                <a:solidFill>
                  <a:srgbClr val="D2DAE2"/>
                </a:solidFill>
                <a:latin typeface="Segoe UI"/>
              </a:rPr>
              <a:t> Drona detectează automat repausul (variație &lt; 0.15m timp de 10 secunde) și setează altitudinea de referință (home_alt).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F5F6FA"/>
                </a:solidFill>
                <a:latin typeface="Segoe UI"/>
              </a:rPr>
              <a:t>• Bara de Diagnoză Rapidă:</a:t>
            </a:r>
            <a:r>
              <a:rPr sz="1000">
                <a:solidFill>
                  <a:srgbClr val="D2DAE2"/>
                </a:solidFill>
                <a:latin typeface="Segoe UI"/>
              </a:rPr>
              <a:t> 4 indicatori cheie în culori de securitate (Verde = Sigur, Portocaliu = Atenție, Roșu = Pericol) cu descrieri detaliate la hover.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2E"/>
          </a:solidFill>
          <a:ln>
            <a:solidFill>
              <a:srgbClr val="1E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8D6"/>
                </a:solidFill>
                <a:latin typeface="Segoe UI"/>
              </a:defRPr>
            </a:pPr>
            <a:r>
              <a:t>06. SIGURANȚĂ ȘI ALERTING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5F6FA"/>
                </a:solidFill>
                <a:latin typeface="Segoe UI"/>
              </a:defRPr>
            </a:pPr>
            <a:r>
              <a:t>Sistemul de Siguranță &amp; Modulul de Simulare a Defecțiunilor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485460"/>
          </a:solidFill>
          <a:ln>
            <a:solidFill>
              <a:srgbClr val="485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4846320"/>
          </a:xfrm>
          <a:prstGeom prst="roundRect">
            <a:avLst/>
          </a:prstGeom>
          <a:solidFill>
            <a:srgbClr val="2F3640"/>
          </a:solidFill>
          <a:ln w="15240">
            <a:solidFill>
              <a:srgbClr val="485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91640"/>
            <a:ext cx="2501884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554480"/>
            <a:ext cx="7132320" cy="4846320"/>
          </a:xfrm>
          <a:prstGeom prst="roundRect">
            <a:avLst/>
          </a:prstGeom>
          <a:solidFill>
            <a:srgbClr val="2F3640"/>
          </a:solidFill>
          <a:ln w="15240">
            <a:solidFill>
              <a:srgbClr val="485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502"/>
                </a:solidFill>
                <a:latin typeface="Segoe UI"/>
              </a:defRPr>
            </a:pPr>
            <a:r>
              <a:t>Praguri de Alertă și Algoritmi de Protecție Implementați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F5E57"/>
                </a:solidFill>
                <a:latin typeface="Segoe UI"/>
              </a:rPr>
              <a:t>⚠ Plafon Altitudine Depășit:</a:t>
            </a:r>
            <a:r>
              <a:rPr sz="1050">
                <a:solidFill>
                  <a:srgbClr val="F5F6FA"/>
                </a:solidFill>
                <a:latin typeface="Segoe UI"/>
              </a:rPr>
              <a:t> Altitudinea relativă &gt;= 520 m (configurabilă din interfață) ➔ Semnal vizual ALT: PERICOL.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FA502"/>
                </a:solidFill>
                <a:latin typeface="Segoe UI"/>
              </a:rPr>
              <a:t>⚠ Presiune Barometrică:</a:t>
            </a:r>
            <a:r>
              <a:rPr sz="1050">
                <a:solidFill>
                  <a:srgbClr val="F5F6FA"/>
                </a:solidFill>
                <a:latin typeface="Segoe UI"/>
              </a:rPr>
              <a:t> Presiune &lt; 600 hPa ➔ PRES: PERICOL | 600 - 700 hPa ➔ PRES: ATENTIE (vreme nefavorabilă).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F5E57"/>
                </a:solidFill>
                <a:latin typeface="Segoe UI"/>
              </a:rPr>
              <a:t>⚠ Supraîncălzire Cip BMP280:</a:t>
            </a:r>
            <a:r>
              <a:rPr sz="1050">
                <a:solidFill>
                  <a:srgbClr val="F5F6FA"/>
                </a:solidFill>
                <a:latin typeface="Segoe UI"/>
              </a:rPr>
              <a:t> Temp &gt;= 75°C ➔ TEMP: PERICOL (risc distrugere cip) | 60 - 75°C ➔ TEMP: ATENTIE.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FA502"/>
                </a:solidFill>
                <a:latin typeface="Segoe UI"/>
              </a:rPr>
              <a:t>⚠ Umiditate Extremă DHT22:</a:t>
            </a:r>
            <a:r>
              <a:rPr sz="1050">
                <a:solidFill>
                  <a:srgbClr val="F5F6FA"/>
                </a:solidFill>
                <a:latin typeface="Segoe UI"/>
              </a:rPr>
              <a:t> Umiditate &gt;= 80% ➔ UMID: PERICOL (risc scurtcircuit prin condens) | 60 - 80% ➔ UMID: ATENTIE.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F5E57"/>
                </a:solidFill>
                <a:latin typeface="Segoe UI"/>
              </a:rPr>
              <a:t>⚠ Detecție Scurtcircuit MQ3:</a:t>
            </a:r>
            <a:r>
              <a:rPr sz="1050">
                <a:solidFill>
                  <a:srgbClr val="F5F6FA"/>
                </a:solidFill>
                <a:latin typeface="Segoe UI"/>
              </a:rPr>
              <a:t> Spike Detection: salt brusc delta &gt; 500 unități SAU valoare absolută &gt;= 2000 unități ➔ Declanșează instant fereastră pop-up de urgență: 'Check for short circuit'!</a:t>
            </a:r>
          </a:p>
          <a:p>
            <a:pPr>
              <a:spcBef>
                <a:spcPts val="1400"/>
              </a:spcBef>
              <a:defRPr sz="1200" b="1">
                <a:solidFill>
                  <a:srgbClr val="00D8D6"/>
                </a:solidFill>
                <a:latin typeface="Segoe UI"/>
              </a:defRPr>
            </a:pPr>
            <a:r>
              <a:t>De ce Panoul de Simulare este un instrument tehnic esențial?</a:t>
            </a:r>
          </a:p>
          <a:p>
            <a:pPr>
              <a:defRPr sz="1050">
                <a:solidFill>
                  <a:srgbClr val="D2DAE2"/>
                </a:solidFill>
                <a:latin typeface="Segoe UI"/>
              </a:defRPr>
            </a:pPr>
            <a:r>
              <a:t>Permite inginerilor să injecteze offset-uri controlate pe oricare dintre senzori (presiune, fum, temperatură) pentru a valida în siguranță reacția sistemului de alarmă fără a arde sau avaria fizic componentele reale.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2E"/>
          </a:solidFill>
          <a:ln>
            <a:solidFill>
              <a:srgbClr val="1E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8D6"/>
                </a:solidFill>
                <a:latin typeface="Segoe UI"/>
              </a:defRPr>
            </a:pPr>
            <a:r>
              <a:t>07. RETROSPECTIVĂ ȘI DEZVOLTARE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5F6FA"/>
                </a:solidFill>
                <a:latin typeface="Segoe UI"/>
              </a:defRPr>
            </a:pPr>
            <a:r>
              <a:t>Concluzii &amp; Dezvoltări Viitoare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485460"/>
          </a:solidFill>
          <a:ln>
            <a:solidFill>
              <a:srgbClr val="485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2F3640"/>
          </a:solidFill>
          <a:ln w="15240">
            <a:solidFill>
              <a:srgbClr val="485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E881"/>
                </a:solidFill>
                <a:latin typeface="Segoe UI"/>
              </a:defRPr>
            </a:pPr>
            <a:r>
              <a:t>Rezultate Validate la Hackathon</a:t>
            </a:r>
          </a:p>
          <a:p>
            <a:pPr>
              <a:spcBef>
                <a:spcPts val="1200"/>
              </a:spcBef>
            </a:pPr>
            <a:r>
              <a:rPr sz="1150" b="1">
                <a:solidFill>
                  <a:srgbClr val="F5F6FA"/>
                </a:solidFill>
                <a:latin typeface="Segoe UI"/>
              </a:rPr>
              <a:t>✔ Pipeline complet funcțional:</a:t>
            </a:r>
            <a:r>
              <a:rPr sz="1050">
                <a:solidFill>
                  <a:srgbClr val="D2DAE2"/>
                </a:solidFill>
                <a:latin typeface="Segoe UI"/>
              </a:rPr>
              <a:t> ESP32-C6 colectează datele de la 5 senzori simultan și transmite fluxul stabil la 10 Hz prin MQTT către stația la sol.</a:t>
            </a:r>
          </a:p>
          <a:p>
            <a:pPr>
              <a:spcBef>
                <a:spcPts val="1200"/>
              </a:spcBef>
            </a:pPr>
            <a:r>
              <a:rPr sz="1150" b="1">
                <a:solidFill>
                  <a:srgbClr val="F5F6FA"/>
                </a:solidFill>
                <a:latin typeface="Segoe UI"/>
              </a:rPr>
              <a:t>✔ Orizont artificial fluid:</a:t>
            </a:r>
            <a:r>
              <a:rPr sz="1050">
                <a:solidFill>
                  <a:srgbClr val="D2DAE2"/>
                </a:solidFill>
                <a:latin typeface="Segoe UI"/>
              </a:rPr>
              <a:t> Reprezentare clară a unghiurilor de ruliu și tangaj în cockpitul Tkinter, fără blocaje de fir de execuție.</a:t>
            </a:r>
          </a:p>
          <a:p>
            <a:pPr>
              <a:spcBef>
                <a:spcPts val="1200"/>
              </a:spcBef>
            </a:pPr>
            <a:r>
              <a:rPr sz="1150" b="1">
                <a:solidFill>
                  <a:srgbClr val="F5F6FA"/>
                </a:solidFill>
                <a:latin typeface="Segoe UI"/>
              </a:rPr>
              <a:t>✔ Diagnoză proactivă demonstrată:</a:t>
            </a:r>
            <a:r>
              <a:rPr sz="1050">
                <a:solidFill>
                  <a:srgbClr val="D2DAE2"/>
                </a:solidFill>
                <a:latin typeface="Segoe UI"/>
              </a:rPr>
              <a:t> Testarea simulată a unui scurtcircuit a declanșat prompt alerta de securitate pe stația de monitorizare.</a:t>
            </a:r>
          </a:p>
          <a:p>
            <a:pPr>
              <a:spcBef>
                <a:spcPts val="1200"/>
              </a:spcBef>
            </a:pPr>
            <a:r>
              <a:rPr sz="1150" b="1">
                <a:solidFill>
                  <a:srgbClr val="F5F6FA"/>
                </a:solidFill>
                <a:latin typeface="Segoe UI"/>
              </a:rPr>
              <a:t>✔ Trecere la nivel de producție:</a:t>
            </a:r>
            <a:r>
              <a:rPr sz="1050">
                <a:solidFill>
                  <a:srgbClr val="D2DAE2"/>
                </a:solidFill>
                <a:latin typeface="Segoe UI"/>
              </a:rPr>
              <a:t> Proiectarea schemei electronice și a PCB-ului complet în KiCad, optimizat pentru asamblare de serie.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2F3640"/>
          </a:solidFill>
          <a:ln w="15240">
            <a:solidFill>
              <a:srgbClr val="485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D8D6"/>
                </a:solidFill>
                <a:latin typeface="Segoe UI"/>
              </a:defRPr>
            </a:pPr>
            <a:r>
              <a:t>Direcții Viitoare de Dezvoltare</a:t>
            </a:r>
          </a:p>
          <a:p>
            <a:pPr>
              <a:spcBef>
                <a:spcPts val="1200"/>
              </a:spcBef>
            </a:pPr>
            <a:r>
              <a:rPr sz="1150" b="1">
                <a:solidFill>
                  <a:srgbClr val="F5F6FA"/>
                </a:solidFill>
                <a:latin typeface="Segoe UI"/>
              </a:rPr>
              <a:t>➔ Control Bidirecțional (Downlink):</a:t>
            </a:r>
            <a:r>
              <a:rPr sz="1050">
                <a:solidFill>
                  <a:srgbClr val="D2DAE2"/>
                </a:solidFill>
                <a:latin typeface="Segoe UI"/>
              </a:rPr>
              <a:t> Trimitere de comenzi automate de la turn către dronă (ex: procedură automată Return-to-Home la detecția fumului).</a:t>
            </a:r>
          </a:p>
          <a:p>
            <a:pPr>
              <a:spcBef>
                <a:spcPts val="1200"/>
              </a:spcBef>
            </a:pPr>
            <a:r>
              <a:rPr sz="1150" b="1">
                <a:solidFill>
                  <a:srgbClr val="F5F6FA"/>
                </a:solidFill>
                <a:latin typeface="Segoe UI"/>
              </a:rPr>
              <a:t>➔ Filtru Kalman / Madgwick:</a:t>
            </a:r>
            <a:r>
              <a:rPr sz="1050">
                <a:solidFill>
                  <a:srgbClr val="D2DAE2"/>
                </a:solidFill>
                <a:latin typeface="Segoe UI"/>
              </a:rPr>
              <a:t> Fuziune senzorială avansată între giroscop și accelerometru pentru eliminarea accelerațiilor dinamice din viraje.</a:t>
            </a:r>
          </a:p>
          <a:p>
            <a:pPr>
              <a:spcBef>
                <a:spcPts val="1200"/>
              </a:spcBef>
            </a:pPr>
            <a:r>
              <a:rPr sz="1150" b="1">
                <a:solidFill>
                  <a:srgbClr val="F5F6FA"/>
                </a:solidFill>
                <a:latin typeface="Segoe UI"/>
              </a:rPr>
              <a:t>➔ Canal Radio de Backup (LoRa / ESP-NOW):</a:t>
            </a:r>
            <a:r>
              <a:rPr sz="1050">
                <a:solidFill>
                  <a:srgbClr val="D2DAE2"/>
                </a:solidFill>
                <a:latin typeface="Segoe UI"/>
              </a:rPr>
              <a:t> Păstrarea telemetriei esențiale pe distanțe lungi chiar și în cazul pierderii acoperirii Wi-Fi convenționale.</a:t>
            </a:r>
          </a:p>
          <a:p>
            <a:pPr>
              <a:spcBef>
                <a:spcPts val="1200"/>
              </a:spcBef>
            </a:pPr>
            <a:r>
              <a:rPr sz="1150" b="1">
                <a:solidFill>
                  <a:srgbClr val="F5F6FA"/>
                </a:solidFill>
                <a:latin typeface="Segoe UI"/>
              </a:rPr>
              <a:t>➔ Integrare Industrială Siemens:</a:t>
            </a:r>
            <a:r>
              <a:rPr sz="1050">
                <a:solidFill>
                  <a:srgbClr val="D2DAE2"/>
                </a:solidFill>
                <a:latin typeface="Segoe UI"/>
              </a:rPr>
              <a:t> Conectarea brokerului MQTT cu platforme IoT industriale (ex: Siemens MindSphere / Industrial Edge) pentru telemetrie flotă.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1347</Words>
  <Application>Microsoft Office PowerPoint</Application>
  <PresentationFormat>Widescreen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Pavel Beni</cp:lastModifiedBy>
  <cp:revision>2</cp:revision>
  <dcterms:created xsi:type="dcterms:W3CDTF">2013-01-27T09:14:16Z</dcterms:created>
  <dcterms:modified xsi:type="dcterms:W3CDTF">2026-10-03T09:11:42Z</dcterms:modified>
  <cp:category/>
</cp:coreProperties>
</file>